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20040"/>
            <a:ext cx="11384280" cy="6217920"/>
          </a:xfrm>
          <a:prstGeom prst="rect">
            <a:avLst/>
          </a:prstGeom>
          <a:noFill/>
          <a:ln w="9525">
            <a:solidFill>
              <a:srgbClr val="2B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" y="868680"/>
            <a:ext cx="10104120" cy="5120640"/>
          </a:xfrm>
          <a:prstGeom prst="rect">
            <a:avLst/>
          </a:prstGeom>
          <a:noFill/>
          <a:ln w="9525">
            <a:solidFill>
              <a:srgbClr val="2B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11480" y="320040"/>
            <a:ext cx="640080" cy="548640"/>
          </a:xfrm>
          <a:prstGeom prst="line">
            <a:avLst/>
          </a:prstGeom>
          <a:ln w="9525">
            <a:solidFill>
              <a:srgbClr val="2B2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1155680" y="320040"/>
            <a:ext cx="640080" cy="548640"/>
          </a:xfrm>
          <a:prstGeom prst="line">
            <a:avLst/>
          </a:prstGeom>
          <a:ln w="9525">
            <a:solidFill>
              <a:srgbClr val="2B2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411480" y="5989320"/>
            <a:ext cx="640080" cy="548640"/>
          </a:xfrm>
          <a:prstGeom prst="line">
            <a:avLst/>
          </a:prstGeom>
          <a:ln w="9525">
            <a:solidFill>
              <a:srgbClr val="2B2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11155680" y="5989320"/>
            <a:ext cx="640080" cy="548640"/>
          </a:xfrm>
          <a:prstGeom prst="line">
            <a:avLst/>
          </a:prstGeom>
          <a:ln w="9525">
            <a:solidFill>
              <a:srgbClr val="2B2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8680" y="1371600"/>
            <a:ext cx="104543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spc="260">
                <a:solidFill>
                  <a:srgbClr val="6F6F77"/>
                </a:solidFill>
                <a:latin typeface="Menlo"/>
              </a:rPr>
              <a:t>XRPL · TRACK 2 — LENDING</a:t>
            </a:r>
          </a:p>
        </p:txBody>
      </p:sp>
      <p:sp>
        <p:nvSpPr>
          <p:cNvPr id="10" name="Oval 9"/>
          <p:cNvSpPr/>
          <p:nvPr/>
        </p:nvSpPr>
        <p:spPr>
          <a:xfrm>
            <a:off x="927658" y="1933498"/>
            <a:ext cx="668426" cy="668426"/>
          </a:xfrm>
          <a:prstGeom prst="ellipse">
            <a:avLst/>
          </a:prstGeom>
          <a:noFill/>
          <a:ln w="31455">
            <a:solidFill>
              <a:srgbClr val="F1F1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6126" y="2021966"/>
            <a:ext cx="491490" cy="491490"/>
          </a:xfrm>
          <a:prstGeom prst="ellipse">
            <a:avLst/>
          </a:prstGeom>
          <a:noFill/>
          <a:ln w="21625">
            <a:solidFill>
              <a:srgbClr val="F1F1F3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73403" y="2179243"/>
            <a:ext cx="176936" cy="176936"/>
          </a:xfrm>
          <a:prstGeom prst="ellipse">
            <a:avLst/>
          </a:prstGeom>
          <a:solidFill>
            <a:srgbClr val="F1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50076" y="1943328"/>
            <a:ext cx="23591" cy="117957"/>
          </a:xfrm>
          <a:prstGeom prst="rect">
            <a:avLst/>
          </a:prstGeom>
          <a:solidFill>
            <a:srgbClr val="F1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74519" y="1828800"/>
            <a:ext cx="9144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600" b="1">
                <a:solidFill>
                  <a:srgbClr val="F1F1F3"/>
                </a:solidFill>
                <a:latin typeface="Helvetica Neue"/>
              </a:rPr>
              <a:t>SecondWave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00400"/>
            <a:ext cx="8046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0"/>
              </a:spcAft>
            </a:pPr>
            <a:r>
              <a:rPr b="0" sz="1700">
                <a:solidFill>
                  <a:srgbClr val="C4C4CA"/>
                </a:solidFill>
                <a:latin typeface="Helvetica Neue"/>
              </a:rPr>
              <a:t>An exit market for locked vault shares — and a risk rating that says whether the discount is an opportunity or a trap.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7200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C4C4CA"/>
                </a:solidFill>
                <a:latin typeface="Helvetica Neue"/>
              </a:rPr>
              <a:t>Hugo</a:t>
            </a:r>
            <a:r>
              <a:rPr sz="1500">
                <a:solidFill>
                  <a:srgbClr val="6F6F77"/>
                </a:solidFill>
                <a:latin typeface="Helvetica Neue"/>
              </a:rPr>
              <a:t> — vaults, loans, settlement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C4C4CA"/>
                </a:solidFill>
                <a:latin typeface="Helvetica Neue"/>
              </a:rPr>
              <a:t>Noé</a:t>
            </a:r>
            <a:r>
              <a:rPr sz="1500">
                <a:solidFill>
                  <a:srgbClr val="6F6F77"/>
                </a:solidFill>
                <a:latin typeface="Helvetica Neue"/>
              </a:rPr>
              <a:t> — risk analyst, wallet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778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6F6F77"/>
                </a:solidFill>
                <a:latin typeface="Menlo"/>
              </a:rPr>
              <a:t>XRPL PUBLIC DEVNET · SEPTEMBER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55" y="617220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6F6F77"/>
                </a:solidFill>
                <a:latin typeface="Menl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4543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spc="260">
                <a:solidFill>
                  <a:srgbClr val="6F6F77"/>
                </a:solidFill>
                <a:latin typeface="Menlo"/>
              </a:rPr>
              <a:t>THE OBSERVATION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188720"/>
            <a:ext cx="95097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b="1" sz="3300">
                <a:solidFill>
                  <a:srgbClr val="F1F1F3"/>
                </a:solidFill>
                <a:latin typeface="Helvetica Neue"/>
              </a:rPr>
              <a:t>A closed-ended vault locks your capital.
That is the product, not a bug.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43200"/>
            <a:ext cx="93268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0"/>
              </a:spcAft>
            </a:pPr>
            <a:r>
              <a:rPr b="0" sz="1600">
                <a:solidFill>
                  <a:srgbClr val="C4C4CA"/>
                </a:solidFill>
                <a:latin typeface="Helvetica Neue"/>
              </a:rPr>
              <a:t>During the whole Investment phase, </a:t>
            </a:r>
            <a:r>
              <a:rPr sz="1600">
                <a:solidFill>
                  <a:srgbClr val="C4C4CA"/>
                </a:solidFill>
                <a:latin typeface="Menlo"/>
              </a:rPr>
              <a:t>VaultWithdraw</a:t>
            </a:r>
            <a:r>
              <a:rPr b="0" sz="1600">
                <a:solidFill>
                  <a:srgbClr val="C4C4CA"/>
                </a:solidFill>
                <a:latin typeface="Helvetica Neue"/>
              </a:rPr>
              <a:t> answers </a:t>
            </a:r>
            <a:r>
              <a:rPr sz="1600">
                <a:solidFill>
                  <a:srgbClr val="C4C4CA"/>
                </a:solidFill>
                <a:latin typeface="Menlo"/>
              </a:rPr>
              <a:t>tecTOO_SOON</a:t>
            </a:r>
            <a:r>
              <a:rPr b="0" sz="1600">
                <a:solidFill>
                  <a:srgbClr val="C4C4CA"/>
                </a:solidFill>
                <a:latin typeface="Helvetica Neue"/>
              </a:rPr>
              <a:t>. The depositor cannot leave. Full stop.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94760"/>
            <a:ext cx="101498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0"/>
              </a:spcAft>
            </a:pPr>
            <a:r>
              <a:rPr sz="1500" b="1">
                <a:solidFill>
                  <a:srgbClr val="FF5A52"/>
                </a:solidFill>
                <a:latin typeface="Helvetica Neue"/>
              </a:rPr>
              <a:t>—   </a:t>
            </a:r>
            <a:r>
              <a:rPr b="0" sz="1500">
                <a:solidFill>
                  <a:srgbClr val="C4C4CA"/>
                </a:solidFill>
                <a:latin typeface="Helvetica Neue"/>
              </a:rPr>
              <a:t>But the </a:t>
            </a:r>
            <a:r>
              <a:rPr b="1" sz="1500">
                <a:solidFill>
                  <a:srgbClr val="F1F1F3"/>
                </a:solidFill>
                <a:latin typeface="Helvetica Neue"/>
              </a:rPr>
              <a:t>risk degrades while the price does not move</a:t>
            </a:r>
            <a:r>
              <a:rPr b="0" sz="1500">
                <a:solidFill>
                  <a:srgbClr val="C4C4CA"/>
                </a:solidFill>
                <a:latin typeface="Helvetica Neue"/>
              </a:rPr>
              <a:t>. </a:t>
            </a:r>
            <a:r>
              <a:rPr sz="1500">
                <a:solidFill>
                  <a:srgbClr val="C4C4CA"/>
                </a:solidFill>
                <a:latin typeface="Menlo"/>
              </a:rPr>
              <a:t>AssetsTotal</a:t>
            </a:r>
            <a:r>
              <a:rPr b="0" sz="1500">
                <a:solidFill>
                  <a:srgbClr val="C4C4CA"/>
                </a:solidFill>
                <a:latin typeface="Helvetica Neue"/>
              </a:rPr>
              <a:t> only changes when the broker declares an impairment — and nothing forces them to.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1500" b="1">
                <a:solidFill>
                  <a:srgbClr val="FF5A52"/>
                </a:solidFill>
                <a:latin typeface="Helvetica Neue"/>
              </a:rPr>
              <a:t>—   </a:t>
            </a:r>
            <a:r>
              <a:rPr b="0" sz="1500">
                <a:solidFill>
                  <a:srgbClr val="C4C4CA"/>
                </a:solidFill>
                <a:latin typeface="Helvetica Neue"/>
              </a:rPr>
              <a:t>A loan past its due date and its grace period leaves the share value perfectly intact. </a:t>
            </a:r>
            <a:r>
              <a:rPr b="1" sz="1500">
                <a:solidFill>
                  <a:srgbClr val="F1F1F3"/>
                </a:solidFill>
                <a:latin typeface="Helvetica Neue"/>
              </a:rPr>
              <a:t>It is invisible from the price.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1500" b="0">
                <a:solidFill>
                  <a:srgbClr val="6F6F77"/>
                </a:solidFill>
                <a:latin typeface="Helvetica Neue"/>
              </a:rPr>
              <a:t>—   </a:t>
            </a:r>
            <a:r>
              <a:rPr b="0" sz="1500">
                <a:solidFill>
                  <a:srgbClr val="C4C4CA"/>
                </a:solidFill>
                <a:latin typeface="Helvetica Neue"/>
              </a:rPr>
              <a:t>We swept the network: </a:t>
            </a:r>
            <a:r>
              <a:rPr b="1" sz="1500">
                <a:solidFill>
                  <a:srgbClr val="F1F1F3"/>
                </a:solidFill>
                <a:latin typeface="Helvetica Neue"/>
              </a:rPr>
              <a:t>22 of the 40 largest vaults</a:t>
            </a:r>
            <a:r>
              <a:rPr b="0" sz="1500">
                <a:solidFill>
                  <a:srgbClr val="C4C4CA"/>
                </a:solidFill>
                <a:latin typeface="Helvetica Neue"/>
              </a:rPr>
              <a:t> carry an undeclared defaulted loan. Not ours. In the wild.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17220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6F6F77"/>
                </a:solidFill>
                <a:latin typeface="Menl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4543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spc="260">
                <a:solidFill>
                  <a:srgbClr val="6F6F77"/>
                </a:solidFill>
                <a:latin typeface="Menlo"/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188720"/>
            <a:ext cx="95097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b="1" sz="3100">
                <a:solidFill>
                  <a:srgbClr val="F1F1F3"/>
                </a:solidFill>
                <a:latin typeface="Helvetica Neue"/>
              </a:rPr>
              <a:t>Vault shares are an MPT. They transfer.
The exit already existed — it just had no tooling.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101498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0"/>
              </a:spcAft>
            </a:pPr>
            <a:r>
              <a:rPr sz="1600" b="1">
                <a:solidFill>
                  <a:srgbClr val="35D07F"/>
                </a:solidFill>
                <a:latin typeface="Helvetica Neue"/>
              </a:rPr>
              <a:t>—   </a:t>
            </a:r>
            <a:r>
              <a:rPr b="1" sz="1600">
                <a:solidFill>
                  <a:srgbClr val="F1F1F3"/>
                </a:solidFill>
                <a:latin typeface="Helvetica Neue"/>
              </a:rPr>
              <a:t>Sell a locked position</a:t>
            </a:r>
            <a:r>
              <a:rPr b="0" sz="1600">
                <a:solidFill>
                  <a:srgbClr val="C4C4CA"/>
                </a:solidFill>
                <a:latin typeface="Helvetica Neue"/>
              </a:rPr>
              <a:t> before the redemption date, through an all-or-nothing atomic swap.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1600" b="1">
                <a:solidFill>
                  <a:srgbClr val="35D07F"/>
                </a:solidFill>
                <a:latin typeface="Helvetica Neue"/>
              </a:rPr>
              <a:t>—   </a:t>
            </a:r>
            <a:r>
              <a:rPr b="1" sz="1600">
                <a:solidFill>
                  <a:srgbClr val="F1F1F3"/>
                </a:solidFill>
                <a:latin typeface="Helvetica Neue"/>
              </a:rPr>
              <a:t>An analyst next to every offer</a:t>
            </a:r>
            <a:r>
              <a:rPr b="0" sz="1600">
                <a:solidFill>
                  <a:srgbClr val="C4C4CA"/>
                </a:solidFill>
                <a:latin typeface="Helvetica Neue"/>
              </a:rPr>
              <a:t> — not just “risky”, but distress discount versus liquidity discount, with the reason.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1600" b="1">
                <a:solidFill>
                  <a:srgbClr val="35D07F"/>
                </a:solidFill>
                <a:latin typeface="Helvetica Neue"/>
              </a:rPr>
              <a:t>—   </a:t>
            </a:r>
            <a:r>
              <a:rPr b="1" sz="1600">
                <a:solidFill>
                  <a:srgbClr val="F1F1F3"/>
                </a:solidFill>
                <a:latin typeface="Helvetica Neue"/>
              </a:rPr>
              <a:t>A durable order book.</a:t>
            </a:r>
            <a:r>
              <a:rPr b="0" sz="1600">
                <a:solidFill>
                  <a:srgbClr val="C4C4CA"/>
                </a:solidFill>
                <a:latin typeface="Helvetica Neue"/>
              </a:rPr>
              <a:t> The seller signs once and keeps living; the buyer commits with a deadline; either side can withdraw in one click, on-chain.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44068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0"/>
              </a:spcAft>
            </a:pPr>
            <a:r>
              <a:rPr b="0" sz="1400">
                <a:solidFill>
                  <a:srgbClr val="9A9AA1"/>
                </a:solidFill>
                <a:latin typeface="Helvetica Neue"/>
              </a:rPr>
              <a:t>The buyer’s real question is not what price — it is </a:t>
            </a:r>
            <a:r>
              <a:rPr b="1" sz="1400">
                <a:solidFill>
                  <a:srgbClr val="F1F1F3"/>
                </a:solidFill>
                <a:latin typeface="Helvetica Neue"/>
              </a:rPr>
              <a:t>why is the seller cutting it</a:t>
            </a:r>
            <a:r>
              <a:rPr b="0" sz="1400">
                <a:solidFill>
                  <a:srgbClr val="9A9AA1"/>
                </a:solidFill>
                <a:latin typeface="Helvetica Neue"/>
              </a:rPr>
              <a:t>. That is what the rating answers.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17220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6F6F77"/>
                </a:solidFill>
                <a:latin typeface="Menl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4543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spc="260">
                <a:solidFill>
                  <a:srgbClr val="6F6F77"/>
                </a:solidFill>
                <a:latin typeface="Menlo"/>
              </a:rPr>
              <a:t>WHAT WE RAN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188720"/>
            <a:ext cx="95097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b="1" sz="3300">
                <a:solidFill>
                  <a:srgbClr val="F1F1F3"/>
                </a:solidFill>
                <a:latin typeface="Helvetica Neue"/>
              </a:rPr>
              <a:t>Six specifications, one 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240280"/>
            <a:ext cx="3401568" cy="1371600"/>
          </a:xfrm>
          <a:prstGeom prst="roundRect">
            <a:avLst>
              <a:gd name="adj" fmla="val 6000"/>
            </a:avLst>
          </a:prstGeom>
          <a:solidFill>
            <a:srgbClr val="131315"/>
          </a:solidFill>
          <a:ln w="9525">
            <a:solidFill>
              <a:srgbClr val="2B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2441448"/>
            <a:ext cx="294436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C4C4CA"/>
                </a:solidFill>
                <a:latin typeface="Menlo"/>
              </a:rPr>
              <a:t>XLS-65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1F1F3"/>
                </a:solidFill>
                <a:latin typeface="Helvetica Neue"/>
              </a:rPr>
              <a:t>Single Asset Vault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950">
                <a:solidFill>
                  <a:srgbClr val="9A9AA1"/>
                </a:solidFill>
                <a:latin typeface="Menlo"/>
              </a:rPr>
              <a:t>VaultCreate · VaultDeposit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950">
                <a:solidFill>
                  <a:srgbClr val="9A9AA1"/>
                </a:solidFill>
                <a:latin typeface="Menlo"/>
              </a:rPr>
              <a:t>VaultWithdraw · VaultClawback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2240280"/>
            <a:ext cx="3401568" cy="1371600"/>
          </a:xfrm>
          <a:prstGeom prst="roundRect">
            <a:avLst>
              <a:gd name="adj" fmla="val 6000"/>
            </a:avLst>
          </a:prstGeom>
          <a:solidFill>
            <a:srgbClr val="131315"/>
          </a:solidFill>
          <a:ln w="9525">
            <a:solidFill>
              <a:srgbClr val="2B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82312" y="2441448"/>
            <a:ext cx="294436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C4C4CA"/>
                </a:solidFill>
                <a:latin typeface="Menlo"/>
              </a:rPr>
              <a:t>XLS-66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1F1F3"/>
                </a:solidFill>
                <a:latin typeface="Helvetica Neue"/>
              </a:rPr>
              <a:t>Lending Protocol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950">
                <a:solidFill>
                  <a:srgbClr val="9A9AA1"/>
                </a:solidFill>
                <a:latin typeface="Menlo"/>
              </a:rPr>
              <a:t>LoanBrokerSet · LoanSet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950">
                <a:solidFill>
                  <a:srgbClr val="9A9AA1"/>
                </a:solidFill>
                <a:latin typeface="Menlo"/>
              </a:rPr>
              <a:t>LoanPay · LoanManage · LoanDelete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2240280"/>
            <a:ext cx="3401568" cy="1371600"/>
          </a:xfrm>
          <a:prstGeom prst="roundRect">
            <a:avLst>
              <a:gd name="adj" fmla="val 6000"/>
            </a:avLst>
          </a:prstGeom>
          <a:solidFill>
            <a:srgbClr val="131315"/>
          </a:solidFill>
          <a:ln w="9525">
            <a:solidFill>
              <a:srgbClr val="2B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39911" y="2441448"/>
            <a:ext cx="294436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C4C4CA"/>
                </a:solidFill>
                <a:latin typeface="Menlo"/>
              </a:rPr>
              <a:t>XLS-56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1F1F3"/>
                </a:solidFill>
                <a:latin typeface="Helvetica Neue"/>
              </a:rPr>
              <a:t>Batch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950">
                <a:solidFill>
                  <a:srgbClr val="9A9AA1"/>
                </a:solidFill>
                <a:latin typeface="Menlo"/>
              </a:rPr>
              <a:t>Batch tfAllOrNothing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950">
                <a:solidFill>
                  <a:srgbClr val="9A9AA1"/>
                </a:solidFill>
                <a:latin typeface="Menlo"/>
              </a:rPr>
              <a:t>BatchSigners · inner legs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840480"/>
            <a:ext cx="3401568" cy="1371600"/>
          </a:xfrm>
          <a:prstGeom prst="roundRect">
            <a:avLst>
              <a:gd name="adj" fmla="val 6000"/>
            </a:avLst>
          </a:prstGeom>
          <a:solidFill>
            <a:srgbClr val="131315"/>
          </a:solidFill>
          <a:ln w="9525">
            <a:solidFill>
              <a:srgbClr val="2B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4041648"/>
            <a:ext cx="294436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C4C4CA"/>
                </a:solidFill>
                <a:latin typeface="Menlo"/>
              </a:rPr>
              <a:t>XLS-70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1F1F3"/>
                </a:solidFill>
                <a:latin typeface="Helvetica Neue"/>
              </a:rPr>
              <a:t>Credentials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950">
                <a:solidFill>
                  <a:srgbClr val="9A9AA1"/>
                </a:solidFill>
                <a:latin typeface="Menlo"/>
              </a:rPr>
              <a:t>CredentialCreate · CredentialAccept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950">
                <a:solidFill>
                  <a:srgbClr val="9A9AA1"/>
                </a:solidFill>
                <a:latin typeface="Menlo"/>
              </a:rPr>
              <a:t>CredentialDelete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3840480"/>
            <a:ext cx="3401568" cy="1371600"/>
          </a:xfrm>
          <a:prstGeom prst="roundRect">
            <a:avLst>
              <a:gd name="adj" fmla="val 6000"/>
            </a:avLst>
          </a:prstGeom>
          <a:solidFill>
            <a:srgbClr val="131315"/>
          </a:solidFill>
          <a:ln w="9525">
            <a:solidFill>
              <a:srgbClr val="2B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82312" y="4041648"/>
            <a:ext cx="294436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C4C4CA"/>
                </a:solidFill>
                <a:latin typeface="Menlo"/>
              </a:rPr>
              <a:t>XLS-80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1F1F3"/>
                </a:solidFill>
                <a:latin typeface="Helvetica Neue"/>
              </a:rPr>
              <a:t>Permissioned Domains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950">
                <a:solidFill>
                  <a:srgbClr val="9A9AA1"/>
                </a:solidFill>
                <a:latin typeface="Menlo"/>
              </a:rPr>
              <a:t>PermissionedDomainSet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950">
                <a:solidFill>
                  <a:srgbClr val="9A9AA1"/>
                </a:solidFill>
                <a:latin typeface="Menlo"/>
              </a:rPr>
              <a:t>AcceptedCredentials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3840480"/>
            <a:ext cx="3401568" cy="1371600"/>
          </a:xfrm>
          <a:prstGeom prst="roundRect">
            <a:avLst>
              <a:gd name="adj" fmla="val 6000"/>
            </a:avLst>
          </a:prstGeom>
          <a:solidFill>
            <a:srgbClr val="131315"/>
          </a:solidFill>
          <a:ln w="9525">
            <a:solidFill>
              <a:srgbClr val="2B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9911" y="4041648"/>
            <a:ext cx="294436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C4C4CA"/>
                </a:solidFill>
                <a:latin typeface="Menlo"/>
              </a:rPr>
              <a:t>MPT · TICKETS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1F1F3"/>
                </a:solidFill>
                <a:latin typeface="Helvetica Neue"/>
              </a:rPr>
              <a:t>Shares &amp; durability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950">
                <a:solidFill>
                  <a:srgbClr val="9A9AA1"/>
                </a:solidFill>
                <a:latin typeface="Menlo"/>
              </a:rPr>
              <a:t>MPTokenAuthorize · Payment(mpt)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950">
                <a:solidFill>
                  <a:srgbClr val="9A9AA1"/>
                </a:solidFill>
                <a:latin typeface="Menlo"/>
              </a:rPr>
              <a:t>TicketCreate · TicketSequence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150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9A9AA1"/>
                </a:solidFill>
                <a:latin typeface="Helvetica Neue"/>
              </a:rPr>
              <a:t>Around 450 cases replayed on Devnet · 30 vaults created · 489 swept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55" y="617220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6F6F77"/>
                </a:solidFill>
                <a:latin typeface="Menl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4543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spc="260">
                <a:solidFill>
                  <a:srgbClr val="6F6F77"/>
                </a:solidFill>
                <a:latin typeface="Menlo"/>
              </a:rPr>
              <a:t>MAJOR FIXES WE SURFACED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188720"/>
            <a:ext cx="95097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b="1" sz="3300">
                <a:solidFill>
                  <a:srgbClr val="F1F1F3"/>
                </a:solidFill>
                <a:latin typeface="Helvetica Neue"/>
              </a:rPr>
              <a:t>Two things a product cannot work around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F5A52"/>
                </a:solidFill>
                <a:latin typeface="Menlo"/>
              </a:rPr>
              <a:t>XLS-56 · BATCH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4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F1F1F3"/>
                </a:solidFill>
                <a:latin typeface="Helvetica Neue"/>
              </a:rPr>
              <a:t>“Success” does not mean the trade happened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29000"/>
            <a:ext cx="51206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sz="1300" b="1">
                <a:solidFill>
                  <a:srgbClr val="FF5A52"/>
                </a:solidFill>
                <a:latin typeface="Helvetica Neue"/>
              </a:rPr>
              <a:t>—   </a:t>
            </a:r>
            <a:r>
              <a:rPr b="0" sz="1300">
                <a:solidFill>
                  <a:srgbClr val="C4C4CA"/>
                </a:solidFill>
                <a:latin typeface="Helvetica Neue"/>
              </a:rPr>
              <a:t>Delivery and no-op return the </a:t>
            </a:r>
            <a:r>
              <a:rPr b="1" sz="1300">
                <a:solidFill>
                  <a:srgbClr val="F1F1F3"/>
                </a:solidFill>
                <a:latin typeface="Helvetica Neue"/>
              </a:rPr>
              <a:t>same tesSUCCESS</a:t>
            </a:r>
            <a:r>
              <a:rPr b="0" sz="1300">
                <a:solidFill>
                  <a:srgbClr val="C4C4CA"/>
                </a:solidFill>
                <a:latin typeface="Helvetica Neue"/>
              </a:rPr>
              <a:t>, the same metadata, the same fee. Two Devnet transactions side by side: </a:t>
            </a:r>
            <a:r>
              <a:rPr b="1" sz="1300">
                <a:solidFill>
                  <a:srgbClr val="F1F1F3"/>
                </a:solidFill>
                <a:latin typeface="Helvetica Neue"/>
              </a:rPr>
              <a:t>rigorously identical</a:t>
            </a:r>
            <a:r>
              <a:rPr b="0" sz="1300">
                <a:solidFill>
                  <a:srgbClr val="C4C4CA"/>
                </a:solidFill>
                <a:latin typeface="Helvetica Neue"/>
              </a:rPr>
              <a:t>.</a:t>
            </a:r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sz="1300" b="1">
                <a:solidFill>
                  <a:srgbClr val="FF5A52"/>
                </a:solidFill>
                <a:latin typeface="Helvetica Neue"/>
              </a:rPr>
              <a:t>—   </a:t>
            </a:r>
            <a:r>
              <a:rPr b="0" sz="1300">
                <a:solidFill>
                  <a:srgbClr val="C4C4CA"/>
                </a:solidFill>
                <a:latin typeface="Helvetica Neue"/>
              </a:rPr>
              <a:t>The per-leg execution report XLS-56 specifies is </a:t>
            </a:r>
            <a:r>
              <a:rPr b="1" sz="1300">
                <a:solidFill>
                  <a:srgbClr val="F1F1F3"/>
                </a:solidFill>
                <a:latin typeface="Helvetica Neue"/>
              </a:rPr>
              <a:t>absent</a:t>
            </a:r>
            <a:r>
              <a:rPr b="0" sz="1300">
                <a:solidFill>
                  <a:srgbClr val="C4C4CA"/>
                </a:solidFill>
                <a:latin typeface="Helvetica Neue"/>
              </a:rPr>
              <a:t>. We rebuild the legs by hand and reconcile balances.</a:t>
            </a:r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sz="1300" b="1">
                <a:solidFill>
                  <a:srgbClr val="FF5A52"/>
                </a:solidFill>
                <a:latin typeface="Helvetica Neue"/>
              </a:rPr>
              <a:t>—   </a:t>
            </a:r>
            <a:r>
              <a:rPr b="1" sz="1300">
                <a:solidFill>
                  <a:srgbClr val="F1F1F3"/>
                </a:solidFill>
                <a:latin typeface="Helvetica Neue"/>
              </a:rPr>
              <a:t>3 of 4 flags</a:t>
            </a:r>
            <a:r>
              <a:rPr b="0" sz="1300">
                <a:solidFill>
                  <a:srgbClr val="C4C4CA"/>
                </a:solidFill>
                <a:latin typeface="Helvetica Neue"/>
              </a:rPr>
              <a:t> hand over the shares without collecting the price.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2402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F5A52"/>
                </a:solidFill>
                <a:latin typeface="Menlo"/>
              </a:rPr>
              <a:t>DEV WALLET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0604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F1F1F3"/>
                </a:solidFill>
                <a:latin typeface="Helvetica Neue"/>
              </a:rPr>
              <a:t>It cannot get you in — or 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3429000"/>
            <a:ext cx="51206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sz="1300" b="1">
                <a:solidFill>
                  <a:srgbClr val="FF5A52"/>
                </a:solidFill>
                <a:latin typeface="Helvetica Neue"/>
              </a:rPr>
              <a:t>—   </a:t>
            </a:r>
            <a:r>
              <a:rPr b="0" sz="1300">
                <a:solidFill>
                  <a:srgbClr val="C4C4CA"/>
                </a:solidFill>
                <a:latin typeface="Helvetica Neue"/>
              </a:rPr>
              <a:t>It sends an XRP deposit </a:t>
            </a:r>
            <a:r>
              <a:rPr b="1" sz="1300">
                <a:solidFill>
                  <a:srgbClr val="F1F1F3"/>
                </a:solidFill>
                <a:latin typeface="Helvetica Neue"/>
              </a:rPr>
              <a:t>as a token object</a:t>
            </a:r>
            <a:r>
              <a:rPr b="0" sz="1300">
                <a:solidFill>
                  <a:srgbClr val="C4C4CA"/>
                </a:solidFill>
                <a:latin typeface="Helvetica Neue"/>
              </a:rPr>
              <a:t>. The vault refuses, and the user cannot edit the JSON. Dead end — we fixed it and opened a PR.</a:t>
            </a:r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sz="1300" b="1">
                <a:solidFill>
                  <a:srgbClr val="FF5A52"/>
                </a:solidFill>
                <a:latin typeface="Helvetica Neue"/>
              </a:rPr>
              <a:t>—   </a:t>
            </a:r>
            <a:r>
              <a:rPr b="0" sz="1300">
                <a:solidFill>
                  <a:srgbClr val="C4C4CA"/>
                </a:solidFill>
                <a:latin typeface="Helvetica Neue"/>
              </a:rPr>
              <a:t>It knows </a:t>
            </a:r>
            <a:r>
              <a:rPr b="1" sz="1300">
                <a:solidFill>
                  <a:srgbClr val="F1F1F3"/>
                </a:solidFill>
                <a:latin typeface="Helvetica Neue"/>
              </a:rPr>
              <a:t>neither Batch nor Escrow</a:t>
            </a:r>
            <a:r>
              <a:rPr b="0" sz="1300">
                <a:solidFill>
                  <a:srgbClr val="C4C4CA"/>
                </a:solidFill>
                <a:latin typeface="Helvetica Neue"/>
              </a:rPr>
              <a:t>. No wallet can sign an atomic swap, so every peer-to-peer market is forced to be </a:t>
            </a:r>
            <a:r>
              <a:rPr b="1" sz="1300">
                <a:solidFill>
                  <a:srgbClr val="F1F1F3"/>
                </a:solidFill>
                <a:latin typeface="Helvetica Neue"/>
              </a:rPr>
              <a:t>custodial</a:t>
            </a:r>
            <a:r>
              <a:rPr b="0" sz="1300">
                <a:solidFill>
                  <a:srgbClr val="C4C4CA"/>
                </a:solidFill>
                <a:latin typeface="Helvetica Neue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17220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6F6F77"/>
                </a:solidFill>
                <a:latin typeface="Menl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4543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spc="260">
                <a:solidFill>
                  <a:srgbClr val="6F6F77"/>
                </a:solidFill>
                <a:latin typeface="Menlo"/>
              </a:rPr>
              <a:t>WHAT WOULD HAVE BEEN GREAT TO HAVE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188720"/>
            <a:ext cx="95097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b="1" sz="3300">
                <a:solidFill>
                  <a:srgbClr val="F1F1F3"/>
                </a:solidFill>
                <a:latin typeface="Helvetica Neue"/>
              </a:rPr>
              <a:t>An escrow that does not name its recipient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101498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0"/>
              </a:spcAft>
            </a:pPr>
            <a:r>
              <a:rPr b="0" sz="1500">
                <a:solidFill>
                  <a:srgbClr val="C4C4CA"/>
                </a:solidFill>
                <a:latin typeface="Helvetica Neue"/>
              </a:rPr>
              <a:t>Today the seller must know the buyer </a:t>
            </a:r>
            <a:r>
              <a:rPr b="1" sz="1500">
                <a:solidFill>
                  <a:srgbClr val="F1F1F3"/>
                </a:solidFill>
                <a:latin typeface="Helvetica Neue"/>
              </a:rPr>
              <a:t>before committing</a:t>
            </a:r>
            <a:r>
              <a:rPr b="0" sz="1500">
                <a:solidFill>
                  <a:srgbClr val="C4C4CA"/>
                </a:solidFill>
                <a:latin typeface="Helvetica Neue"/>
              </a:rPr>
              <a:t>: the buyer’s address sits inside what the seller signs, and an escrow demands a </a:t>
            </a:r>
            <a:r>
              <a:rPr sz="1500">
                <a:solidFill>
                  <a:srgbClr val="C4C4CA"/>
                </a:solidFill>
                <a:latin typeface="Menlo"/>
              </a:rPr>
              <a:t>Destination</a:t>
            </a:r>
            <a:r>
              <a:rPr b="0" sz="1500">
                <a:solidFill>
                  <a:srgbClr val="C4C4CA"/>
                </a:solidFill>
                <a:latin typeface="Helvetica Neue"/>
              </a:rPr>
              <a:t>. So there is no way to say “1,000 shares at this price, to whoever takes them first”.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03320"/>
            <a:ext cx="101498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0"/>
              </a:spcAft>
            </a:pPr>
            <a:r>
              <a:rPr sz="1400" b="0">
                <a:solidFill>
                  <a:srgbClr val="6F6F77"/>
                </a:solidFill>
                <a:latin typeface="Helvetica Neue"/>
              </a:rPr>
              <a:t>—   </a:t>
            </a:r>
            <a:r>
              <a:rPr b="0" sz="1400">
                <a:solidFill>
                  <a:srgbClr val="C4C4CA"/>
                </a:solidFill>
                <a:latin typeface="Helvetica Neue"/>
              </a:rPr>
              <a:t>The usual objection — anyone could claim it — </a:t>
            </a:r>
            <a:r>
              <a:rPr b="1" sz="1400">
                <a:solidFill>
                  <a:srgbClr val="F1F1F3"/>
                </a:solidFill>
                <a:latin typeface="Helvetica Neue"/>
              </a:rPr>
              <a:t>does not apply here</a:t>
            </a:r>
            <a:r>
              <a:rPr b="0" sz="1400">
                <a:solidFill>
                  <a:srgbClr val="C4C4CA"/>
                </a:solidFill>
                <a:latin typeface="Helvetica Neue"/>
              </a:rPr>
              <a:t>.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1400" b="1">
                <a:solidFill>
                  <a:srgbClr val="35D07F"/>
                </a:solidFill>
                <a:latin typeface="Helvetica Neue"/>
              </a:rPr>
              <a:t>—   </a:t>
            </a:r>
            <a:r>
              <a:rPr b="0" sz="1400">
                <a:solidFill>
                  <a:srgbClr val="C4C4CA"/>
                </a:solidFill>
                <a:latin typeface="Helvetica Neue"/>
              </a:rPr>
              <a:t>In a private vault, access is already bounded by a </a:t>
            </a:r>
            <a:r>
              <a:rPr b="1" sz="1400">
                <a:solidFill>
                  <a:srgbClr val="F1F1F3"/>
                </a:solidFill>
                <a:latin typeface="Helvetica Neue"/>
              </a:rPr>
              <a:t>permissioned domain</a:t>
            </a:r>
            <a:r>
              <a:rPr b="0" sz="1400">
                <a:solidFill>
                  <a:srgbClr val="C4C4CA"/>
                </a:solidFill>
                <a:latin typeface="Helvetica Neue"/>
              </a:rPr>
              <a:t> (XLS-80) and its </a:t>
            </a:r>
            <a:r>
              <a:rPr b="1" sz="1400">
                <a:solidFill>
                  <a:srgbClr val="F1F1F3"/>
                </a:solidFill>
                <a:latin typeface="Helvetica Neue"/>
              </a:rPr>
              <a:t>credentials</a:t>
            </a:r>
            <a:r>
              <a:rPr b="0" sz="1400">
                <a:solidFill>
                  <a:srgbClr val="C4C4CA"/>
                </a:solidFill>
                <a:latin typeface="Helvetica Neue"/>
              </a:rPr>
              <a:t> (XLS-70). Everyone who could answer is </a:t>
            </a:r>
            <a:r>
              <a:rPr b="1" sz="1400">
                <a:solidFill>
                  <a:srgbClr val="F1F1F3"/>
                </a:solidFill>
                <a:latin typeface="Helvetica Neue"/>
              </a:rPr>
              <a:t>already trusted</a:t>
            </a:r>
            <a:r>
              <a:rPr b="0" sz="1400">
                <a:solidFill>
                  <a:srgbClr val="C4C4CA"/>
                </a:solidFill>
                <a:latin typeface="Helvetica Neue"/>
              </a:rPr>
              <a:t>.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1400" b="1">
                <a:solidFill>
                  <a:srgbClr val="35D07F"/>
                </a:solidFill>
                <a:latin typeface="Helvetica Neue"/>
              </a:rPr>
              <a:t>—   </a:t>
            </a:r>
            <a:r>
              <a:rPr b="0" sz="1400">
                <a:solidFill>
                  <a:srgbClr val="C4C4CA"/>
                </a:solidFill>
                <a:latin typeface="Helvetica Neue"/>
              </a:rPr>
              <a:t>The network re-checks membership at deposit, at transfer, and </a:t>
            </a:r>
            <a:r>
              <a:rPr b="1" sz="1400">
                <a:solidFill>
                  <a:srgbClr val="F1F1F3"/>
                </a:solidFill>
                <a:latin typeface="Helvetica Neue"/>
              </a:rPr>
              <a:t>again at escrow finish</a:t>
            </a:r>
            <a:r>
              <a:rPr b="0" sz="1400">
                <a:solidFill>
                  <a:srgbClr val="C4C4CA"/>
                </a:solidFill>
                <a:latin typeface="Helvetica Neue"/>
              </a:rPr>
              <a:t> — we tested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669280"/>
            <a:ext cx="10149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b="0" sz="1400">
                <a:solidFill>
                  <a:srgbClr val="9A9AA1"/>
                </a:solidFill>
                <a:latin typeface="Helvetica Neue"/>
              </a:rPr>
              <a:t>Naming the destination a second time adds no security. It only removes the possibility of a market. </a:t>
            </a:r>
            <a:r>
              <a:rPr b="1" sz="1400">
                <a:solidFill>
                  <a:srgbClr val="F1F1F3"/>
                </a:solidFill>
                <a:latin typeface="Helvetica Neue"/>
              </a:rPr>
              <a:t>Let an escrow point at a domain</a:t>
            </a:r>
            <a:r>
              <a:rPr b="0" sz="1400">
                <a:solidFill>
                  <a:srgbClr val="9A9AA1"/>
                </a:solidFill>
                <a:latin typeface="Helvetica Neue"/>
              </a:rPr>
              <a:t> — and private vaults get a real on-chain order book.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17220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6F6F77"/>
                </a:solidFill>
                <a:latin typeface="Menl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4543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spc="260">
                <a:solidFill>
                  <a:srgbClr val="6F6F77"/>
                </a:solidFill>
                <a:latin typeface="Menlo"/>
              </a:rPr>
              <a:t>THE ONE THING STILL OFF-CHAIN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188720"/>
            <a:ext cx="95097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b="1" sz="3300">
                <a:solidFill>
                  <a:srgbClr val="F1F1F3"/>
                </a:solidFill>
                <a:latin typeface="Helvetica Neue"/>
              </a:rPr>
              <a:t>There is no way to ask to join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9144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0"/>
              </a:spcAft>
            </a:pPr>
            <a:r>
              <a:rPr b="0" sz="1700">
                <a:solidFill>
                  <a:srgbClr val="C4C4CA"/>
                </a:solidFill>
                <a:latin typeface="Helvetica Neue"/>
              </a:rPr>
              <a:t>Everything else lives on the ledger. Onboarding does not.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17520"/>
            <a:ext cx="101498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0"/>
              </a:spcAft>
            </a:pPr>
            <a:r>
              <a:rPr sz="1500" b="0">
                <a:solidFill>
                  <a:srgbClr val="6F6F77"/>
                </a:solidFill>
                <a:latin typeface="Helvetica Neue"/>
              </a:rPr>
              <a:t>—   </a:t>
            </a:r>
            <a:r>
              <a:rPr b="0" sz="1500">
                <a:solidFill>
                  <a:srgbClr val="C4C4CA"/>
                </a:solidFill>
                <a:latin typeface="Helvetica Neue"/>
              </a:rPr>
              <a:t>The only transactions that exist are </a:t>
            </a:r>
            <a:r>
              <a:rPr sz="1500">
                <a:solidFill>
                  <a:srgbClr val="C4C4CA"/>
                </a:solidFill>
                <a:latin typeface="Menlo"/>
              </a:rPr>
              <a:t>CredentialCreate</a:t>
            </a:r>
            <a:r>
              <a:rPr b="0" sz="1500">
                <a:solidFill>
                  <a:srgbClr val="C4C4CA"/>
                </a:solidFill>
                <a:latin typeface="Helvetica Neue"/>
              </a:rPr>
              <a:t>, </a:t>
            </a:r>
            <a:r>
              <a:rPr sz="1500">
                <a:solidFill>
                  <a:srgbClr val="C4C4CA"/>
                </a:solidFill>
                <a:latin typeface="Menlo"/>
              </a:rPr>
              <a:t>CredentialAccept</a:t>
            </a:r>
            <a:r>
              <a:rPr b="0" sz="1500">
                <a:solidFill>
                  <a:srgbClr val="C4C4CA"/>
                </a:solidFill>
                <a:latin typeface="Helvetica Neue"/>
              </a:rPr>
              <a:t>, </a:t>
            </a:r>
            <a:r>
              <a:rPr sz="1500">
                <a:solidFill>
                  <a:srgbClr val="C4C4CA"/>
                </a:solidFill>
                <a:latin typeface="Menlo"/>
              </a:rPr>
              <a:t>CredentialDelete</a:t>
            </a:r>
            <a:r>
              <a:rPr b="0" sz="1500">
                <a:solidFill>
                  <a:srgbClr val="C4C4CA"/>
                </a:solidFill>
                <a:latin typeface="Helvetica Neue"/>
              </a:rPr>
              <a:t>. </a:t>
            </a:r>
            <a:r>
              <a:rPr b="1" sz="1500">
                <a:solidFill>
                  <a:srgbClr val="F1F1F3"/>
                </a:solidFill>
                <a:latin typeface="Helvetica Neue"/>
              </a:rPr>
              <a:t>None of them is a request.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1500" b="1">
                <a:solidFill>
                  <a:srgbClr val="FF5A52"/>
                </a:solidFill>
                <a:latin typeface="Helvetica Neue"/>
              </a:rPr>
              <a:t>—   </a:t>
            </a:r>
            <a:r>
              <a:rPr b="0" sz="1500">
                <a:solidFill>
                  <a:srgbClr val="C4C4CA"/>
                </a:solidFill>
                <a:latin typeface="Helvetica Neue"/>
              </a:rPr>
              <a:t>The </a:t>
            </a:r>
            <a:r>
              <a:rPr b="1" sz="1500">
                <a:solidFill>
                  <a:srgbClr val="F1F1F3"/>
                </a:solidFill>
                <a:latin typeface="Helvetica Neue"/>
              </a:rPr>
              <a:t>issuer pushes</a:t>
            </a:r>
            <a:r>
              <a:rPr b="0" sz="1500">
                <a:solidFill>
                  <a:srgbClr val="C4C4CA"/>
                </a:solidFill>
                <a:latin typeface="Helvetica Neue"/>
              </a:rPr>
              <a:t> the credential; the newcomer can only accept it. An outsider has </a:t>
            </a:r>
            <a:r>
              <a:rPr b="1" sz="1500">
                <a:solidFill>
                  <a:srgbClr val="F1F1F3"/>
                </a:solidFill>
                <a:latin typeface="Helvetica Neue"/>
              </a:rPr>
              <a:t>no on-chain way to raise their hand</a:t>
            </a:r>
            <a:r>
              <a:rPr b="0" sz="1500">
                <a:solidFill>
                  <a:srgbClr val="C4C4CA"/>
                </a:solidFill>
                <a:latin typeface="Helvetica Neue"/>
              </a:rPr>
              <a:t>.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1500" b="0">
                <a:solidFill>
                  <a:srgbClr val="6F6F77"/>
                </a:solidFill>
                <a:latin typeface="Helvetica Neue"/>
              </a:rPr>
              <a:t>—   </a:t>
            </a:r>
            <a:r>
              <a:rPr b="0" sz="1500">
                <a:solidFill>
                  <a:srgbClr val="C4C4CA"/>
                </a:solidFill>
                <a:latin typeface="Helvetica Neue"/>
              </a:rPr>
              <a:t>So the first step of onboarding happens in a form, an email, a Discord — off-chain, for a protocol whose selling point is on-chain identity.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532120"/>
            <a:ext cx="10149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b="0" sz="1400">
                <a:solidFill>
                  <a:srgbClr val="9A9AA1"/>
                </a:solidFill>
                <a:latin typeface="Helvetica Neue"/>
              </a:rPr>
              <a:t>Concretely: a buyer who finds an offer on our book and is not a domain member sees “credential missing” — and has no button to press next.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17220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6F6F77"/>
                </a:solidFill>
                <a:latin typeface="Menl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20040"/>
            <a:ext cx="11384280" cy="6217920"/>
          </a:xfrm>
          <a:prstGeom prst="rect">
            <a:avLst/>
          </a:prstGeom>
          <a:noFill/>
          <a:ln w="9525">
            <a:solidFill>
              <a:srgbClr val="2B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" y="868680"/>
            <a:ext cx="10104120" cy="5120640"/>
          </a:xfrm>
          <a:prstGeom prst="rect">
            <a:avLst/>
          </a:prstGeom>
          <a:noFill/>
          <a:ln w="9525">
            <a:solidFill>
              <a:srgbClr val="2B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11480" y="320040"/>
            <a:ext cx="640080" cy="548640"/>
          </a:xfrm>
          <a:prstGeom prst="line">
            <a:avLst/>
          </a:prstGeom>
          <a:ln w="9525">
            <a:solidFill>
              <a:srgbClr val="2B2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1155680" y="320040"/>
            <a:ext cx="640080" cy="548640"/>
          </a:xfrm>
          <a:prstGeom prst="line">
            <a:avLst/>
          </a:prstGeom>
          <a:ln w="9525">
            <a:solidFill>
              <a:srgbClr val="2B2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411480" y="5989320"/>
            <a:ext cx="640080" cy="548640"/>
          </a:xfrm>
          <a:prstGeom prst="line">
            <a:avLst/>
          </a:prstGeom>
          <a:ln w="9525">
            <a:solidFill>
              <a:srgbClr val="2B2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11155680" y="5989320"/>
            <a:ext cx="640080" cy="548640"/>
          </a:xfrm>
          <a:prstGeom prst="line">
            <a:avLst/>
          </a:prstGeom>
          <a:ln w="9525">
            <a:solidFill>
              <a:srgbClr val="2B2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8680" y="1371600"/>
            <a:ext cx="104543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spc="260">
                <a:solidFill>
                  <a:srgbClr val="6F6F77"/>
                </a:solidFill>
                <a:latin typeface="Menlo"/>
              </a:rPr>
              <a:t>GO LOOK</a:t>
            </a:r>
          </a:p>
        </p:txBody>
      </p:sp>
      <p:sp>
        <p:nvSpPr>
          <p:cNvPr id="10" name="Oval 9"/>
          <p:cNvSpPr/>
          <p:nvPr/>
        </p:nvSpPr>
        <p:spPr>
          <a:xfrm>
            <a:off x="916686" y="1949958"/>
            <a:ext cx="544068" cy="544068"/>
          </a:xfrm>
          <a:prstGeom prst="ellipse">
            <a:avLst/>
          </a:prstGeom>
          <a:noFill/>
          <a:ln w="25603">
            <a:solidFill>
              <a:srgbClr val="F1F1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8694" y="2021967"/>
            <a:ext cx="400049" cy="400049"/>
          </a:xfrm>
          <a:prstGeom prst="ellipse">
            <a:avLst/>
          </a:prstGeom>
          <a:noFill/>
          <a:ln w="17602">
            <a:solidFill>
              <a:srgbClr val="F1F1F3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16711" y="2149983"/>
            <a:ext cx="144017" cy="144017"/>
          </a:xfrm>
          <a:prstGeom prst="ellipse">
            <a:avLst/>
          </a:prstGeom>
          <a:solidFill>
            <a:srgbClr val="F1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9118" y="1957959"/>
            <a:ext cx="19202" cy="96011"/>
          </a:xfrm>
          <a:prstGeom prst="rect">
            <a:avLst/>
          </a:prstGeom>
          <a:solidFill>
            <a:srgbClr val="F1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73352" y="182880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200" b="1">
                <a:solidFill>
                  <a:srgbClr val="F1F1F3"/>
                </a:solidFill>
                <a:latin typeface="Helvetica Neue"/>
              </a:rPr>
              <a:t>SecondWave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154680"/>
            <a:ext cx="5852160" cy="86868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2B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300984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>
                <a:solidFill>
                  <a:srgbClr val="6F6F77"/>
                </a:solidFill>
                <a:latin typeface="Menlo"/>
              </a:rPr>
              <a:t>LIVE</a:t>
            </a:r>
          </a:p>
          <a:p>
            <a:r>
              <a:rPr sz="1500">
                <a:solidFill>
                  <a:srgbClr val="F1F1F3"/>
                </a:solidFill>
                <a:latin typeface="Menlo"/>
              </a:rPr>
              <a:t>second-wave-vault.vercel.app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206240"/>
            <a:ext cx="5852160" cy="86868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2B2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352544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>
                <a:solidFill>
                  <a:srgbClr val="6F6F77"/>
                </a:solidFill>
                <a:latin typeface="Menlo"/>
              </a:rPr>
              <a:t>CODE</a:t>
            </a:r>
          </a:p>
          <a:p>
            <a:r>
              <a:rPr sz="1500">
                <a:solidFill>
                  <a:srgbClr val="F1F1F3"/>
                </a:solidFill>
                <a:latin typeface="Menlo"/>
              </a:rPr>
              <a:t>github.com/noegng/SecondWave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40680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b="0" sz="1400">
                <a:solidFill>
                  <a:srgbClr val="9A9AA1"/>
                </a:solidFill>
                <a:latin typeface="Helvetica Neue"/>
              </a:rPr>
              <a:t>The report, the reproduction scripts and the on-chain proofs are all in the repository — </a:t>
            </a:r>
            <a:r>
              <a:rPr b="1" sz="1400">
                <a:solidFill>
                  <a:srgbClr val="F1F1F3"/>
                </a:solidFill>
                <a:latin typeface="Helvetica Neue"/>
              </a:rPr>
              <a:t>every claim on these slides has a transaction you can open.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17220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6F6F77"/>
                </a:solidFill>
                <a:latin typeface="Menlo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